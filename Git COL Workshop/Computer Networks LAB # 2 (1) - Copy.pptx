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8" r:id="rId3"/>
    <p:sldId id="267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72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2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</inkml:traceFormat>
        <inkml:channelProperties>
          <inkml:channelProperty channel="X" name="resolution" value="11.13043" units="1/cm"/>
          <inkml:channelProperty channel="Y" name="resolution" value="11.81538" units="1/cm"/>
        </inkml:channelProperties>
      </inkml:inkSource>
      <inkml:timestamp xml:id="ts0" timeString="2021-10-05T04:10:27"/>
    </inkml:context>
    <inkml:brush xml:id="br0">
      <inkml:brushProperty name="width" value="0.08819" units="cm"/>
      <inkml:brushProperty name="height" value="0.35278" units="cm"/>
      <inkml:brushProperty name="color" value="#82acd0"/>
      <inkml:brushProperty name="transparency" value="170"/>
      <inkml:brushProperty name="tip" value="rectangle"/>
      <inkml:brushProperty name="rasterOp" value="maskPen"/>
      <inkml:brushProperty name="fitToCurve" value="1"/>
    </inkml:brush>
  </inkml:definitions>
  <inkml:trace contextRef="#ctx0" brushRef="#br0">660.000 24.000,'0.000'-26.000,"-26.000"26.000,-27.000 0.000,-26.000 53.000,26.000-27.000,53.000 1.000,-79.000 0.000,26.000 0.000,0.000 79.000,0.000-26.000,-26.000 53.000,79.000-26.000,-27.000-1.000,-25.000 27.000,25.000-54.000,27.000-26.000,-26.000 1.000,26.000-1.000,0.000-26.000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768" units="cm"/>
        </inkml:traceFormat>
        <inkml:channelProperties>
          <inkml:channelProperty channel="X" name="resolution" value="11.13043" units="1/cm"/>
          <inkml:channelProperty channel="Y" name="resolution" value="11.81538" units="1/cm"/>
        </inkml:channelProperties>
      </inkml:inkSource>
      <inkml:timestamp xml:id="ts0" timeString="2021-10-05T04:10:28"/>
    </inkml:context>
    <inkml:brush xml:id="br0">
      <inkml:brushProperty name="width" value="0.08819" units="cm"/>
      <inkml:brushProperty name="height" value="0.35278" units="cm"/>
      <inkml:brushProperty name="color" value="#82acd0"/>
      <inkml:brushProperty name="transparency" value="170"/>
      <inkml:brushProperty name="tip" value="rectangle"/>
      <inkml:brushProperty name="rasterOp" value="maskPen"/>
      <inkml:brushProperty name="fitToCurve" value="1"/>
    </inkml:brush>
  </inkml:definitions>
  <inkml:trace contextRef="#ctx0" brushRef="#br0">1190.000-1.000,'-26.000'0.000,"-1.000"0.000,1.000 26.000,-1.000 1.000,1.000 25.000,-27.000-25.000,53.000-1.000,-26.000 27.000,-54.000 27.000,80.000 26.000,-106.000 52.000,80.000-25.000,-106.000 78.000,52.000-26.000,54.000-79.000,-106.000 53.000,52.000-27.000,27.000-52.000,-26.000 26.000,52.000-1.000,-52.000-52.000,79.000 0.000,-26.000-26.000,26.000-1.000,0.000 1.000,-27.000-27.000,1.000 26.000,26.000 1.000,0.000-1.000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C7E43-56F6-45CB-A194-C69F9D70AB1E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2DFD2-0C38-4B29-9BF4-608CE31B7683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67F7-92A7-44A6-971D-C8821F87F48E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CE9A-2BC8-4025-BFD2-DF845E33E741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79642-4AA2-419D-A410-A4D433FEDF62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88A5-48EC-45B4-9013-A9A30830C406}" type="datetime1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495B-931A-48CA-86D6-064A2F6A4AC5}" type="datetime1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E44D-9CAA-4BFA-826A-2EA70C6CE4C1}" type="datetime1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F7AFC-5682-4E3A-B24A-A432CF3D9A57}" type="datetime1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99E182-B214-49BB-8532-8F30E0C70683}" type="datetime1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BF6F-A584-4ABC-AF91-5CAB32D6BEC5}" type="datetime1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3A92-990F-4C35-8664-B8C4C6C2E249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FF8A8-813F-4BF0-AA0E-49FB7D808E8F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AED0DD-2AA3-4C10-A7D6-2F9B9E14D4EF}" type="datetime1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Mariya Hanif                   Computer Networks                     Fall-2025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AD7E44-3406-4E7D-8103-E9B40FED190C}" type="slidenum">
              <a:rPr lang="en-GB" smtClean="0"/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42511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847859" y="322424"/>
            <a:ext cx="10496282" cy="112136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600" b="1" dirty="0" smtClean="0">
                <a:latin typeface="Bahnschrift" panose="020B0502040204020203" pitchFamily="34" charset="0"/>
              </a:rPr>
              <a:t>Computer Networks LAB </a:t>
            </a:r>
            <a:endParaRPr lang="en-GB" sz="6600" b="1" dirty="0">
              <a:latin typeface="Bahnschrift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56060" y="1618699"/>
            <a:ext cx="65468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rial Narrow" panose="020B0606020202030204" pitchFamily="34" charset="0"/>
              </a:rPr>
              <a:t>LAB # 2</a:t>
            </a:r>
            <a:endParaRPr lang="en-US" sz="4400" dirty="0" smtClean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sz="24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Configuration of Local Area Network using Packet Tracer</a:t>
            </a:r>
            <a:endParaRPr lang="en-US" sz="2400" dirty="0" smtClean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2773" y="4487696"/>
            <a:ext cx="6102626" cy="6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j-lt"/>
              </a:rPr>
              <a:t>Department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of Computer Scie</a:t>
            </a:r>
            <a:r>
              <a:rPr lang="en-US" dirty="0">
                <a:solidFill>
                  <a:schemeClr val="tx1"/>
                </a:solidFill>
              </a:rPr>
              <a:t>nce &amp; Information Technology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dirty="0" smtClean="0">
                <a:latin typeface="+mj-lt"/>
              </a:rPr>
              <a:t>IQRA UNIVERSITY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ISLAMABAD CAMPUS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650" y="3196921"/>
            <a:ext cx="2651658" cy="61478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Mariya Hanif                   Operating System                     Fall-2021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08267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IP Address &amp; Sub</a:t>
            </a:r>
            <a:r>
              <a:rPr lang="en-US" sz="32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n</a:t>
            </a:r>
            <a:r>
              <a:rPr lang="en-US" sz="3200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et mask</a:t>
            </a:r>
            <a:endParaRPr lang="en-US" sz="3200" b="1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97425" y="1775791"/>
          <a:ext cx="6805820" cy="4472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607"/>
                <a:gridCol w="2300785"/>
                <a:gridCol w="2236428"/>
              </a:tblGrid>
              <a:tr h="729974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Classes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 IP Address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 Sub</a:t>
                      </a:r>
                      <a:r>
                        <a:rPr lang="en-US" sz="2400" b="0" dirty="0">
                          <a:ln w="0"/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n</a:t>
                      </a:r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et mask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</a:tr>
              <a:tr h="729974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 Class</a:t>
                      </a:r>
                      <a:r>
                        <a:rPr lang="en-US" sz="2400" b="0" baseline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 A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0-126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255.0.0.0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</a:tr>
              <a:tr h="729974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Class B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128-191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255.255.0.0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</a:tr>
              <a:tr h="729974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Class C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192-223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255.255.255.0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</a:tr>
              <a:tr h="729974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Class D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224-239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n w="0"/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N/A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</a:tr>
              <a:tr h="729974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Class E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240-255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>
                          <a:ln w="0"/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N/A</a:t>
                      </a:r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  <a:p>
                      <a:pPr algn="ctr"/>
                      <a:endParaRPr lang="en-US" sz="2400" b="0" dirty="0"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1266" name="Ink 2"/>
              <p14:cNvContentPartPr/>
              <p14:nvPr/>
            </p14:nvContentPartPr>
            <p14:xfrm>
              <a:off x="2362200" y="2390775"/>
              <a:ext cx="238125" cy="390525"/>
            </p14:xfrm>
          </p:contentPart>
        </mc:Choice>
        <mc:Fallback xmlns="">
          <p:pic>
            <p:nvPicPr>
              <p:cNvPr id="11266" name="Ink 2"/>
            </p:nvPicPr>
            <p:blipFill>
              <a:blip r:embed="rId2"/>
            </p:blipFill>
            <p:spPr>
              <a:xfrm>
                <a:off x="2362200" y="2390775"/>
                <a:ext cx="238125" cy="390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1267" name="Ink 3"/>
              <p14:cNvContentPartPr/>
              <p14:nvPr/>
            </p14:nvContentPartPr>
            <p14:xfrm>
              <a:off x="9324975" y="4191000"/>
              <a:ext cx="428625" cy="733425"/>
            </p14:xfrm>
          </p:contentPart>
        </mc:Choice>
        <mc:Fallback xmlns="">
          <p:pic>
            <p:nvPicPr>
              <p:cNvPr id="11267" name="Ink 3"/>
            </p:nvPicPr>
            <p:blipFill>
              <a:blip r:embed="rId4"/>
            </p:blipFill>
            <p:spPr>
              <a:xfrm>
                <a:off x="9324975" y="4191000"/>
                <a:ext cx="428625" cy="73342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Mariya Hanif                   Operating System                     Fall-2021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37" y="353962"/>
            <a:ext cx="10205074" cy="6288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Mariya Hanif                   Operating System                     Fall-2021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1" y="-80168"/>
            <a:ext cx="8132032" cy="6687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Mariya Hanif                   Operating System                     Fall-2021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06" y="85226"/>
            <a:ext cx="8204833" cy="6739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Mariya Hanif                   Operating System                     Fall-2021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311" y="-104099"/>
            <a:ext cx="8092116" cy="6563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Mariya Hanif                   Operating System                     Fall-2021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16" y="-75580"/>
            <a:ext cx="8692478" cy="6900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Mariya Hanif                   Operating System                     Fall-2021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7E44-3406-4E7D-8103-E9B40FED190C}" type="slidenum">
              <a:rPr lang="en-GB" smtClean="0"/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061" y="2094272"/>
            <a:ext cx="8745697" cy="2167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9625" y="553279"/>
            <a:ext cx="9902687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LAB TASK:</a:t>
            </a:r>
            <a:endParaRPr lang="en-GB" sz="44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Configure 3 LANs using Cisco Packet Tracer. Where each LAN have a different IP Address Class.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Each local area network consist of 5 to 6 systems.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Each LAN has different subnet mask class!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e.g. 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LAN1 (Class A)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LAN2 (Class B)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LAN3 (Class C)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0</TotalTime>
  <Words>1120</Words>
  <Application>WPS Presentation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Bahnschrift</vt:lpstr>
      <vt:lpstr>Arial Narrow</vt:lpstr>
      <vt:lpstr>Adobe Fan Heiti Std B</vt:lpstr>
      <vt:lpstr>Yu Gothic UI Semibold</vt:lpstr>
      <vt:lpstr>Times New Roman</vt:lpstr>
      <vt:lpstr>Calibri Light</vt:lpstr>
      <vt:lpstr>Microsoft YaHei</vt:lpstr>
      <vt:lpstr>Arial Unicode MS</vt:lpstr>
      <vt:lpstr>Retrospect</vt:lpstr>
      <vt:lpstr>PowerPoint 演示文稿</vt:lpstr>
      <vt:lpstr>IP Address &amp; Subnet mask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Mariya Hanif</dc:creator>
  <cp:lastModifiedBy>Adil Badshah</cp:lastModifiedBy>
  <cp:revision>90</cp:revision>
  <dcterms:created xsi:type="dcterms:W3CDTF">2021-02-08T18:52:00Z</dcterms:created>
  <dcterms:modified xsi:type="dcterms:W3CDTF">2026-04-02T15:54:33Z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E45C85DF152249979424D47874E667C3_12</vt:lpwstr>
  </property>
  <property fmtid="{D5CDD505-2E9C-101B-9397-08002B2CF9AE}" pid="3" name="KSOProductBuildVer">
    <vt:lpwstr>1033-12.2.0.23196</vt:lpwstr>
  </property>
</Properties>
</file>